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271" r:id="rId3"/>
    <p:sldId id="283" r:id="rId4"/>
    <p:sldId id="284" r:id="rId5"/>
    <p:sldId id="285" r:id="rId6"/>
    <p:sldId id="286" r:id="rId7"/>
    <p:sldId id="287" r:id="rId8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ón" id="{E75E278A-FF0E-49A4-B170-79828D63BBAD}">
          <p14:sldIdLst>
            <p14:sldId id="256"/>
          </p14:sldIdLst>
        </p14:section>
        <p14:section name="Desarrollo" id="{B9B51309-D148-4332-87C2-07BE32FBCA3B}">
          <p14:sldIdLst>
            <p14:sldId id="271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235FC6-FCC1-4DF5-8AB6-B2D37BB61101}" v="2" dt="2026-07-06T05:52:47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41" autoAdjust="0"/>
  </p:normalViewPr>
  <p:slideViewPr>
    <p:cSldViewPr snapToGrid="0">
      <p:cViewPr varScale="1">
        <p:scale>
          <a:sx n="64" d="100"/>
          <a:sy n="64" d="100"/>
        </p:scale>
        <p:origin x="978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Barillas" userId="e7be728689e1020e" providerId="LiveId" clId="{0DEC78F8-EE26-4D47-81D3-3F6C69B2D7C7}"/>
    <pc:docChg chg="custSel addSld modSld modSection">
      <pc:chgData name="Alex Barillas" userId="e7be728689e1020e" providerId="LiveId" clId="{0DEC78F8-EE26-4D47-81D3-3F6C69B2D7C7}" dt="2026-07-06T05:53:15.511" v="55" actId="20577"/>
      <pc:docMkLst>
        <pc:docMk/>
      </pc:docMkLst>
      <pc:sldChg chg="addSp delSp modSp add mod">
        <pc:chgData name="Alex Barillas" userId="e7be728689e1020e" providerId="LiveId" clId="{0DEC78F8-EE26-4D47-81D3-3F6C69B2D7C7}" dt="2026-07-06T05:53:15.511" v="55" actId="20577"/>
        <pc:sldMkLst>
          <pc:docMk/>
          <pc:sldMk cId="461937893" sldId="287"/>
        </pc:sldMkLst>
        <pc:spChg chg="add mod">
          <ac:chgData name="Alex Barillas" userId="e7be728689e1020e" providerId="LiveId" clId="{0DEC78F8-EE26-4D47-81D3-3F6C69B2D7C7}" dt="2026-07-06T05:52:45.919" v="25"/>
          <ac:spMkLst>
            <pc:docMk/>
            <pc:sldMk cId="461937893" sldId="287"/>
            <ac:spMk id="2" creationId="{29CCB803-185C-E50F-6FF1-860DD2BB63E7}"/>
          </ac:spMkLst>
        </pc:spChg>
        <pc:spChg chg="mod">
          <ac:chgData name="Alex Barillas" userId="e7be728689e1020e" providerId="LiveId" clId="{0DEC78F8-EE26-4D47-81D3-3F6C69B2D7C7}" dt="2026-07-06T05:53:15.511" v="55" actId="20577"/>
          <ac:spMkLst>
            <pc:docMk/>
            <pc:sldMk cId="461937893" sldId="287"/>
            <ac:spMk id="8" creationId="{A42457EC-9BCA-C013-0D3A-0A8A05F5F590}"/>
          </ac:spMkLst>
        </pc:spChg>
        <pc:spChg chg="del">
          <ac:chgData name="Alex Barillas" userId="e7be728689e1020e" providerId="LiveId" clId="{0DEC78F8-EE26-4D47-81D3-3F6C69B2D7C7}" dt="2026-07-06T05:52:44.995" v="24" actId="21"/>
          <ac:spMkLst>
            <pc:docMk/>
            <pc:sldMk cId="461937893" sldId="287"/>
            <ac:spMk id="38" creationId="{29CCB803-185C-E50F-6FF1-860DD2BB63E7}"/>
          </ac:spMkLst>
        </pc:spChg>
        <pc:picChg chg="add mod">
          <ac:chgData name="Alex Barillas" userId="e7be728689e1020e" providerId="LiveId" clId="{0DEC78F8-EE26-4D47-81D3-3F6C69B2D7C7}" dt="2026-07-06T05:53:01.692" v="28" actId="1076"/>
          <ac:picMkLst>
            <pc:docMk/>
            <pc:sldMk cId="461937893" sldId="287"/>
            <ac:picMk id="4" creationId="{28B25087-ABCA-3073-AE69-8D14C938D29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0B2B5E0-3F7C-4D27-B033-54169BBE3F5A}" type="datetime1">
              <a:rPr lang="es-ES" smtClean="0"/>
              <a:t>05/07/2026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AE0AD-AC8A-40B7-A05F-83C08D0E80A3}" type="datetime1">
              <a:rPr lang="es-ES" smtClean="0"/>
              <a:pPr/>
              <a:t>05/07/2026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0231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0B1FF-67FE-D078-E02D-D3888A9AA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5F18202-4044-2FF7-71B8-E13520B96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CF0A68C-762D-B15F-2A35-679B510F0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50818F-94E0-B9CB-6FE3-413B19821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5876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7B1BD-FA7D-8292-ACD2-30A0B5A25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33A6210-3461-1563-C1F8-552670722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3073C98-B002-20FB-20B0-14B1D95EB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AB3573-01A9-4D5B-1460-19FDCAB89E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4472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5C414-B0AE-2296-CD05-72EE9A64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B6ED941-FB9B-FC04-BF7E-668708746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7A01C8D-2973-2916-E5BF-C5D5C2750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30794A-279E-30CA-0214-79647664F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5158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8C54D-A64C-90E7-FD65-8947C44F9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5F2D5E2-B9E0-F231-F2D0-9B58F4A56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1BC5659-1B89-1911-1B67-3FB870F7E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3E124F-D814-8551-0C37-8F9B95F0F0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711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7EF2C-47C6-8693-D500-018DB4C52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A6FF9BC-72FC-B609-E03C-AED310A2D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4EFC5C9-5B56-6F36-9DD6-D99B7310A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D3BDCF-F927-97E8-CA85-71720DDC0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0640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es-ES" sz="1800" noProof="0"/>
          </a:p>
        </p:txBody>
      </p:sp>
      <p:cxnSp>
        <p:nvCxnSpPr>
          <p:cNvPr id="12" name="Conector recto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MX" noProof="0"/>
              <a:t>Haga clic para modificar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MX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MX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MX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MX" noProof="0"/>
              <a:t>Quinto nivel</a:t>
            </a:r>
            <a:endParaRPr lang="es-ES" noProof="0"/>
          </a:p>
        </p:txBody>
      </p:sp>
      <p:sp>
        <p:nvSpPr>
          <p:cNvPr id="6" name="Marcador de fecha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7A7F30DA-8663-4794-8A66-1184A9F2D888}" type="datetime1">
              <a:rPr lang="es-ES" noProof="0" smtClean="0"/>
              <a:t>05/07/2026</a:t>
            </a:fld>
            <a:endParaRPr lang="es-ES" noProof="0"/>
          </a:p>
        </p:txBody>
      </p:sp>
      <p:sp>
        <p:nvSpPr>
          <p:cNvPr id="7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8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10" name="Rectángulo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7" name="Marcador de contenido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MX" noProof="0"/>
              <a:t>Haga clic para modificar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MX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MX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MX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MX" noProof="0"/>
              <a:t>Quinto nivel</a:t>
            </a:r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es-ES" sz="1800" noProof="0"/>
          </a:p>
        </p:txBody>
      </p:sp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E978C3BE-9016-4208-9F91-C00CEFA51175}" type="datetime1">
              <a:rPr lang="es-ES" noProof="0" smtClean="0"/>
              <a:t>05/07/2026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cxnSp>
        <p:nvCxnSpPr>
          <p:cNvPr id="8" name="Conector recto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s-ES" sz="4800" dirty="0">
                <a:solidFill>
                  <a:schemeClr val="bg1"/>
                </a:solidFill>
              </a:rPr>
              <a:t>PROYECTO FINAL ECONOMETRIA EN R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es-ES" sz="2400" dirty="0">
                <a:solidFill>
                  <a:schemeClr val="bg1"/>
                </a:solidFill>
                <a:latin typeface="+mj-lt"/>
              </a:rPr>
              <a:t>Competencia </a:t>
            </a:r>
            <a:r>
              <a:rPr lang="es-ES" sz="2400" dirty="0" err="1">
                <a:solidFill>
                  <a:schemeClr val="bg1"/>
                </a:solidFill>
                <a:latin typeface="+mj-lt"/>
              </a:rPr>
              <a:t>Kaggle</a:t>
            </a:r>
            <a:endParaRPr lang="es-ES" sz="2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8659007" cy="640080"/>
          </a:xfrm>
        </p:spPr>
        <p:txBody>
          <a:bodyPr rtlCol="0">
            <a:noAutofit/>
          </a:bodyPr>
          <a:lstStyle/>
          <a:p>
            <a:pPr rtl="0"/>
            <a:r>
              <a:rPr lang="es-ES" dirty="0">
                <a:latin typeface="Segoe UI Light" panose="020B0502040204020203" pitchFamily="34" charset="0"/>
                <a:cs typeface="Segoe UI Light" panose="020B0502040204020203" pitchFamily="34" charset="0"/>
              </a:rPr>
              <a:t>OBJETIVO Y HERRAMIENTAS</a:t>
            </a:r>
          </a:p>
        </p:txBody>
      </p:sp>
      <p:sp>
        <p:nvSpPr>
          <p:cNvPr id="38" name="Marcador de contenido 17"/>
          <p:cNvSpPr txBox="1">
            <a:spLocks/>
          </p:cNvSpPr>
          <p:nvPr/>
        </p:nvSpPr>
        <p:spPr>
          <a:xfrm>
            <a:off x="541610" y="1524708"/>
            <a:ext cx="11315610" cy="5070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GT" sz="3000" dirty="0"/>
              <a:t>OBJETIVOS</a:t>
            </a:r>
          </a:p>
          <a:p>
            <a:pPr marL="0" indent="0">
              <a:buNone/>
            </a:pPr>
            <a:endParaRPr lang="es-GT" sz="3000" dirty="0"/>
          </a:p>
          <a:p>
            <a:r>
              <a:rPr lang="es-GT" sz="3000" dirty="0"/>
              <a:t>Construir un pipeline robusto para predecir la variable </a:t>
            </a:r>
            <a:r>
              <a:rPr lang="es-GT" sz="3000" dirty="0" err="1"/>
              <a:t>SalePrice</a:t>
            </a:r>
            <a:r>
              <a:rPr lang="es-GT" sz="3000" dirty="0"/>
              <a:t>.</a:t>
            </a:r>
          </a:p>
          <a:p>
            <a:r>
              <a:rPr lang="es-GT" sz="3000" dirty="0"/>
              <a:t>Minimizar RMSE sin usar redes neuronales.</a:t>
            </a:r>
          </a:p>
          <a:p>
            <a:r>
              <a:rPr lang="es-GT" sz="3000" dirty="0"/>
              <a:t>Generar </a:t>
            </a:r>
            <a:r>
              <a:rPr lang="es-GT" sz="3000" dirty="0" err="1"/>
              <a:t>submissions</a:t>
            </a:r>
            <a:r>
              <a:rPr lang="es-GT" sz="3000" dirty="0"/>
              <a:t> listos para </a:t>
            </a:r>
            <a:r>
              <a:rPr lang="es-GT" sz="3000" dirty="0" err="1"/>
              <a:t>Kaggle</a:t>
            </a:r>
            <a:r>
              <a:rPr lang="es-GT" sz="3000" dirty="0"/>
              <a:t>.</a:t>
            </a:r>
          </a:p>
          <a:p>
            <a:pPr marL="0" indent="0">
              <a:buNone/>
            </a:pPr>
            <a:endParaRPr lang="es-GT" sz="3000" dirty="0"/>
          </a:p>
          <a:p>
            <a:pPr marL="0" indent="0">
              <a:buNone/>
            </a:pPr>
            <a:r>
              <a:rPr lang="es-GT" sz="3000" dirty="0"/>
              <a:t>HERRAMIENTAS</a:t>
            </a:r>
          </a:p>
          <a:p>
            <a:pPr marL="0" indent="0">
              <a:buNone/>
            </a:pPr>
            <a:endParaRPr lang="es-GT" sz="3000" dirty="0"/>
          </a:p>
          <a:p>
            <a:r>
              <a:rPr lang="es-GT" sz="3000" dirty="0"/>
              <a:t>R, </a:t>
            </a:r>
            <a:r>
              <a:rPr lang="es-GT" sz="3000" dirty="0" err="1"/>
              <a:t>caret</a:t>
            </a:r>
            <a:r>
              <a:rPr lang="es-GT" sz="3000" dirty="0"/>
              <a:t>, </a:t>
            </a:r>
            <a:r>
              <a:rPr lang="es-GT" sz="3000" dirty="0" err="1"/>
              <a:t>randomForest</a:t>
            </a:r>
            <a:r>
              <a:rPr lang="es-GT" sz="3000" dirty="0"/>
              <a:t>, </a:t>
            </a:r>
            <a:r>
              <a:rPr lang="es-GT" sz="3000" dirty="0" err="1"/>
              <a:t>glmnet</a:t>
            </a:r>
            <a:r>
              <a:rPr lang="es-GT" sz="3000" dirty="0"/>
              <a:t>, </a:t>
            </a:r>
            <a:r>
              <a:rPr lang="es-GT" sz="3000" dirty="0" err="1"/>
              <a:t>xgboost</a:t>
            </a:r>
            <a:endParaRPr lang="es-GT" sz="3000" dirty="0"/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2EE96-C8BF-DB51-E393-F01D0B441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A5FA3309-D382-0551-9104-8790B037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659007" cy="640080"/>
          </a:xfrm>
        </p:spPr>
        <p:txBody>
          <a:bodyPr rtlCol="0">
            <a:noAutofit/>
          </a:bodyPr>
          <a:lstStyle/>
          <a:p>
            <a:pPr rtl="0"/>
            <a:r>
              <a:rPr lang="es-ES" dirty="0">
                <a:latin typeface="Segoe UI Light" panose="020B0502040204020203" pitchFamily="34" charset="0"/>
                <a:cs typeface="Segoe UI Light" panose="020B0502040204020203" pitchFamily="34" charset="0"/>
              </a:rPr>
              <a:t>PREPARACIÓN</a:t>
            </a:r>
          </a:p>
        </p:txBody>
      </p:sp>
      <p:sp>
        <p:nvSpPr>
          <p:cNvPr id="38" name="Marcador de contenido 17">
            <a:extLst>
              <a:ext uri="{FF2B5EF4-FFF2-40B4-BE49-F238E27FC236}">
                <a16:creationId xmlns:a16="http://schemas.microsoft.com/office/drawing/2014/main" id="{563F797E-DE3E-B4E5-630A-3BE0A2743FC0}"/>
              </a:ext>
            </a:extLst>
          </p:cNvPr>
          <p:cNvSpPr txBox="1">
            <a:spLocks/>
          </p:cNvSpPr>
          <p:nvPr/>
        </p:nvSpPr>
        <p:spPr>
          <a:xfrm>
            <a:off x="541610" y="1524708"/>
            <a:ext cx="11315610" cy="5070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3000" dirty="0"/>
              <a:t>Conversión de variables categóricas a factores.</a:t>
            </a:r>
          </a:p>
          <a:p>
            <a:pPr marL="0" indent="0">
              <a:buNone/>
            </a:pPr>
            <a:endParaRPr lang="es-MX" sz="3000" dirty="0"/>
          </a:p>
          <a:p>
            <a:r>
              <a:rPr lang="es-MX" sz="3000" dirty="0"/>
              <a:t>Imputación de valores faltantes:</a:t>
            </a:r>
          </a:p>
          <a:p>
            <a:endParaRPr lang="es-MX" sz="3000" dirty="0"/>
          </a:p>
          <a:p>
            <a:pPr lvl="1"/>
            <a:r>
              <a:rPr lang="es-MX" sz="3000" dirty="0"/>
              <a:t>Numéricas → mediana.</a:t>
            </a:r>
          </a:p>
          <a:p>
            <a:pPr lvl="1"/>
            <a:r>
              <a:rPr lang="es-MX" sz="3000" dirty="0"/>
              <a:t>Categóricas → "</a:t>
            </a:r>
            <a:r>
              <a:rPr lang="es-MX" sz="3000" dirty="0" err="1"/>
              <a:t>None</a:t>
            </a:r>
            <a:r>
              <a:rPr lang="es-MX" sz="3000" dirty="0"/>
              <a:t>".</a:t>
            </a:r>
          </a:p>
          <a:p>
            <a:pPr lvl="1"/>
            <a:endParaRPr lang="es-MX" sz="3000" dirty="0"/>
          </a:p>
          <a:p>
            <a:r>
              <a:rPr lang="es-MX" sz="3000" dirty="0"/>
              <a:t>Unificación de niveles de factores entre </a:t>
            </a:r>
            <a:r>
              <a:rPr lang="es-MX" sz="3000" dirty="0" err="1"/>
              <a:t>train</a:t>
            </a:r>
            <a:r>
              <a:rPr lang="es-MX" sz="3000" dirty="0"/>
              <a:t> y test.</a:t>
            </a:r>
            <a:endParaRPr lang="es-GT" sz="3000" dirty="0"/>
          </a:p>
        </p:txBody>
      </p:sp>
    </p:spTree>
    <p:extLst>
      <p:ext uri="{BB962C8B-B14F-4D97-AF65-F5344CB8AC3E}">
        <p14:creationId xmlns:p14="http://schemas.microsoft.com/office/powerpoint/2010/main" val="3743652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33213-9895-8951-A431-36BFDAAA4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46E8A48C-0B1F-929F-A2D7-D7490B2C4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659007" cy="640080"/>
          </a:xfrm>
        </p:spPr>
        <p:txBody>
          <a:bodyPr rtlCol="0">
            <a:noAutofit/>
          </a:bodyPr>
          <a:lstStyle/>
          <a:p>
            <a:pPr rtl="0"/>
            <a:r>
              <a:rPr lang="es-ES" dirty="0">
                <a:latin typeface="Segoe UI Light" panose="020B0502040204020203" pitchFamily="34" charset="0"/>
                <a:cs typeface="Segoe UI Light" panose="020B0502040204020203" pitchFamily="34" charset="0"/>
              </a:rPr>
              <a:t>LIMPIEZA DE COLUMNAS Y MODELOS BASE</a:t>
            </a:r>
          </a:p>
        </p:txBody>
      </p:sp>
      <p:sp>
        <p:nvSpPr>
          <p:cNvPr id="38" name="Marcador de contenido 17">
            <a:extLst>
              <a:ext uri="{FF2B5EF4-FFF2-40B4-BE49-F238E27FC236}">
                <a16:creationId xmlns:a16="http://schemas.microsoft.com/office/drawing/2014/main" id="{B12FEEBA-5DD2-CAC5-3CC3-317B6CE3ED00}"/>
              </a:ext>
            </a:extLst>
          </p:cNvPr>
          <p:cNvSpPr txBox="1">
            <a:spLocks/>
          </p:cNvSpPr>
          <p:nvPr/>
        </p:nvSpPr>
        <p:spPr>
          <a:xfrm>
            <a:off x="541610" y="1524708"/>
            <a:ext cx="11315610" cy="5070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400" dirty="0"/>
              <a:t>LIMPIEZA DE COLUMNAS</a:t>
            </a:r>
          </a:p>
          <a:p>
            <a:r>
              <a:rPr lang="es-MX" sz="2400" dirty="0"/>
              <a:t>Eliminación de variables con varianza cero (</a:t>
            </a:r>
            <a:r>
              <a:rPr lang="es-MX" sz="2400" dirty="0" err="1"/>
              <a:t>nearZeroVar</a:t>
            </a:r>
            <a:r>
              <a:rPr lang="es-MX" sz="2400" dirty="0"/>
              <a:t>).</a:t>
            </a:r>
          </a:p>
          <a:p>
            <a:r>
              <a:rPr lang="es-MX" sz="2400" dirty="0"/>
              <a:t>Alineación de columnas entre </a:t>
            </a:r>
            <a:r>
              <a:rPr lang="es-MX" sz="2400" dirty="0" err="1"/>
              <a:t>train</a:t>
            </a:r>
            <a:r>
              <a:rPr lang="es-MX" sz="2400" dirty="0"/>
              <a:t> y test.</a:t>
            </a:r>
          </a:p>
          <a:p>
            <a:r>
              <a:rPr lang="es-MX" sz="2400" dirty="0"/>
              <a:t>Manejo de columnas faltantes en test (añadidas como NA).</a:t>
            </a:r>
          </a:p>
          <a:p>
            <a:endParaRPr lang="es-MX" sz="2400" dirty="0"/>
          </a:p>
          <a:p>
            <a:pPr marL="0" indent="0">
              <a:buNone/>
            </a:pPr>
            <a:r>
              <a:rPr lang="es-MX" sz="2400" dirty="0"/>
              <a:t>MODELOS BASE</a:t>
            </a:r>
          </a:p>
          <a:p>
            <a:pPr marL="0" indent="0">
              <a:buNone/>
            </a:pPr>
            <a:r>
              <a:rPr lang="es-GT" sz="2400" dirty="0"/>
              <a:t>Regresión Lineal (LM)</a:t>
            </a:r>
          </a:p>
          <a:p>
            <a:pPr marL="0" indent="0">
              <a:buNone/>
            </a:pPr>
            <a:r>
              <a:rPr lang="es-GT" sz="2400" dirty="0"/>
              <a:t>GLMNET (Ridge/Lasso)</a:t>
            </a:r>
          </a:p>
          <a:p>
            <a:pPr marL="0" indent="0">
              <a:buNone/>
            </a:pPr>
            <a:r>
              <a:rPr lang="es-GT" sz="2400" dirty="0"/>
              <a:t>Random Forest (RF)</a:t>
            </a:r>
          </a:p>
          <a:p>
            <a:pPr marL="0" indent="0">
              <a:buNone/>
            </a:pPr>
            <a:r>
              <a:rPr lang="es-GT" sz="2400" dirty="0"/>
              <a:t>Evaluación con validación cruzada (RMSE).</a:t>
            </a:r>
          </a:p>
        </p:txBody>
      </p:sp>
    </p:spTree>
    <p:extLst>
      <p:ext uri="{BB962C8B-B14F-4D97-AF65-F5344CB8AC3E}">
        <p14:creationId xmlns:p14="http://schemas.microsoft.com/office/powerpoint/2010/main" val="1391791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9FA99-67D2-8E8C-A8CC-E62A04F1F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687745FA-A055-9820-5D10-D2E7025AA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659007" cy="640080"/>
          </a:xfrm>
        </p:spPr>
        <p:txBody>
          <a:bodyPr rtlCol="0">
            <a:noAutofit/>
          </a:bodyPr>
          <a:lstStyle/>
          <a:p>
            <a:pPr rtl="0"/>
            <a:r>
              <a:rPr lang="es-ES" dirty="0">
                <a:latin typeface="Segoe UI Light" panose="020B0502040204020203" pitchFamily="34" charset="0"/>
                <a:cs typeface="Segoe UI Light" panose="020B0502040204020203" pitchFamily="34" charset="0"/>
              </a:rPr>
              <a:t>XGBOOST MANUAL Y MEJORAR RMSE</a:t>
            </a:r>
          </a:p>
        </p:txBody>
      </p:sp>
      <p:sp>
        <p:nvSpPr>
          <p:cNvPr id="38" name="Marcador de contenido 17">
            <a:extLst>
              <a:ext uri="{FF2B5EF4-FFF2-40B4-BE49-F238E27FC236}">
                <a16:creationId xmlns:a16="http://schemas.microsoft.com/office/drawing/2014/main" id="{A4C77A72-21FA-98B9-7EBB-A3D06C7F7C4D}"/>
              </a:ext>
            </a:extLst>
          </p:cNvPr>
          <p:cNvSpPr txBox="1">
            <a:spLocks/>
          </p:cNvSpPr>
          <p:nvPr/>
        </p:nvSpPr>
        <p:spPr>
          <a:xfrm>
            <a:off x="541610" y="1524708"/>
            <a:ext cx="11315610" cy="5070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400" dirty="0"/>
              <a:t>XGBOOST MANUAL</a:t>
            </a:r>
          </a:p>
          <a:p>
            <a:r>
              <a:rPr lang="es-MX" sz="2400" dirty="0"/>
              <a:t>Creación de variables </a:t>
            </a:r>
            <a:r>
              <a:rPr lang="es-MX" sz="2400" dirty="0" err="1"/>
              <a:t>dummy</a:t>
            </a:r>
            <a:r>
              <a:rPr lang="es-MX" sz="2400" dirty="0"/>
              <a:t> con </a:t>
            </a:r>
            <a:r>
              <a:rPr lang="es-MX" sz="2400" dirty="0" err="1"/>
              <a:t>dummyVars</a:t>
            </a:r>
            <a:r>
              <a:rPr lang="es-MX" sz="2400" dirty="0"/>
              <a:t>.</a:t>
            </a:r>
          </a:p>
          <a:p>
            <a:r>
              <a:rPr lang="es-MX" sz="2400" dirty="0"/>
              <a:t>Entrenamiento con parámetros básicos (</a:t>
            </a:r>
            <a:r>
              <a:rPr lang="es-MX" sz="2400" dirty="0" err="1"/>
              <a:t>max_depth</a:t>
            </a:r>
            <a:r>
              <a:rPr lang="es-MX" sz="2400" dirty="0"/>
              <a:t>, eta).</a:t>
            </a:r>
          </a:p>
          <a:p>
            <a:r>
              <a:rPr lang="es-MX" sz="2400" dirty="0"/>
              <a:t>Generación de submission_xgb.csv.</a:t>
            </a:r>
          </a:p>
          <a:p>
            <a:endParaRPr lang="es-MX" sz="2400" dirty="0"/>
          </a:p>
          <a:p>
            <a:pPr marL="0" indent="0">
              <a:buNone/>
            </a:pPr>
            <a:r>
              <a:rPr lang="es-GT" sz="2400" dirty="0"/>
              <a:t>MEJORAR RMSE</a:t>
            </a:r>
          </a:p>
          <a:p>
            <a:r>
              <a:rPr lang="es-GT" sz="2400" dirty="0" err="1"/>
              <a:t>Feature</a:t>
            </a:r>
            <a:r>
              <a:rPr lang="es-GT" sz="2400" dirty="0"/>
              <a:t> </a:t>
            </a:r>
            <a:r>
              <a:rPr lang="es-GT" sz="2400" dirty="0" err="1"/>
              <a:t>engineering</a:t>
            </a:r>
            <a:r>
              <a:rPr lang="es-GT" sz="2400" dirty="0"/>
              <a:t> (log-</a:t>
            </a:r>
            <a:r>
              <a:rPr lang="es-GT" sz="2400" dirty="0" err="1"/>
              <a:t>transform</a:t>
            </a:r>
            <a:r>
              <a:rPr lang="es-GT" sz="2400" dirty="0"/>
              <a:t>, variables derivadas).</a:t>
            </a:r>
          </a:p>
          <a:p>
            <a:r>
              <a:rPr lang="es-GT" sz="2400" dirty="0"/>
              <a:t>Selección de variables con Lasso.</a:t>
            </a:r>
          </a:p>
          <a:p>
            <a:r>
              <a:rPr lang="es-GT" sz="2400" dirty="0"/>
              <a:t>Optimización de </a:t>
            </a:r>
            <a:r>
              <a:rPr lang="es-GT" sz="2400" dirty="0" err="1"/>
              <a:t>hiperparámetros</a:t>
            </a:r>
            <a:r>
              <a:rPr lang="es-GT" sz="2400" dirty="0"/>
              <a:t> en RF/XGB.</a:t>
            </a:r>
          </a:p>
          <a:p>
            <a:r>
              <a:rPr lang="es-GT" sz="2400" dirty="0" err="1"/>
              <a:t>Ensembles</a:t>
            </a:r>
            <a:r>
              <a:rPr lang="es-GT" sz="2400" dirty="0"/>
              <a:t> (</a:t>
            </a:r>
            <a:r>
              <a:rPr lang="es-GT" sz="2400" dirty="0" err="1"/>
              <a:t>stacking</a:t>
            </a:r>
            <a:r>
              <a:rPr lang="es-GT" sz="2400" dirty="0"/>
              <a:t>).</a:t>
            </a:r>
          </a:p>
          <a:p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415167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58035-A686-8324-DAE7-78AD0A021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D2CB477F-7138-08F3-EB10-3B19B71E1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659007" cy="640080"/>
          </a:xfrm>
        </p:spPr>
        <p:txBody>
          <a:bodyPr rtlCol="0">
            <a:noAutofit/>
          </a:bodyPr>
          <a:lstStyle/>
          <a:p>
            <a:pPr rtl="0"/>
            <a:r>
              <a:rPr lang="es-ES" dirty="0">
                <a:latin typeface="Segoe UI Light" panose="020B0502040204020203" pitchFamily="34" charset="0"/>
                <a:cs typeface="Segoe UI Light" panose="020B0502040204020203" pitchFamily="34" charset="0"/>
              </a:rPr>
              <a:t>STACKING MANUAL Y RESULTADOS FINALES </a:t>
            </a:r>
          </a:p>
        </p:txBody>
      </p:sp>
      <p:sp>
        <p:nvSpPr>
          <p:cNvPr id="38" name="Marcador de contenido 17">
            <a:extLst>
              <a:ext uri="{FF2B5EF4-FFF2-40B4-BE49-F238E27FC236}">
                <a16:creationId xmlns:a16="http://schemas.microsoft.com/office/drawing/2014/main" id="{F4DCB11F-3C50-97CC-A4CD-BC8F5E3E607E}"/>
              </a:ext>
            </a:extLst>
          </p:cNvPr>
          <p:cNvSpPr txBox="1">
            <a:spLocks/>
          </p:cNvSpPr>
          <p:nvPr/>
        </p:nvSpPr>
        <p:spPr>
          <a:xfrm>
            <a:off x="541610" y="1524708"/>
            <a:ext cx="11315610" cy="5070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000" dirty="0"/>
              <a:t>STACKING MANUAL</a:t>
            </a:r>
          </a:p>
          <a:p>
            <a:r>
              <a:rPr lang="es-MX" sz="2000" dirty="0"/>
              <a:t>Entrenamiento separado de RF, GLMNET y </a:t>
            </a:r>
            <a:r>
              <a:rPr lang="es-MX" sz="2000" dirty="0" err="1"/>
              <a:t>XGBoost</a:t>
            </a:r>
            <a:r>
              <a:rPr lang="es-MX" sz="2000" dirty="0"/>
              <a:t>.</a:t>
            </a:r>
          </a:p>
          <a:p>
            <a:r>
              <a:rPr lang="es-MX" sz="2000" dirty="0"/>
              <a:t>Predicciones en </a:t>
            </a:r>
            <a:r>
              <a:rPr lang="es-MX" sz="2000" dirty="0" err="1"/>
              <a:t>train</a:t>
            </a:r>
            <a:r>
              <a:rPr lang="es-MX" sz="2000" dirty="0"/>
              <a:t> → </a:t>
            </a:r>
            <a:r>
              <a:rPr lang="es-MX" sz="2000" dirty="0" err="1"/>
              <a:t>dataset</a:t>
            </a:r>
            <a:r>
              <a:rPr lang="es-MX" sz="2000" dirty="0"/>
              <a:t> </a:t>
            </a:r>
            <a:r>
              <a:rPr lang="es-MX" sz="2000" dirty="0" err="1"/>
              <a:t>stack_train</a:t>
            </a:r>
            <a:r>
              <a:rPr lang="es-MX" sz="2000" dirty="0"/>
              <a:t>.</a:t>
            </a:r>
          </a:p>
          <a:p>
            <a:r>
              <a:rPr lang="es-MX" sz="2000" dirty="0"/>
              <a:t>Meta‑modelo lineal sobre predicciones.</a:t>
            </a:r>
          </a:p>
          <a:p>
            <a:r>
              <a:rPr lang="es-MX" sz="2000" dirty="0"/>
              <a:t>Predicciones en test → submission_stack.csv.</a:t>
            </a:r>
          </a:p>
          <a:p>
            <a:pPr marL="0" indent="0">
              <a:buNone/>
            </a:pPr>
            <a:endParaRPr lang="es-MX" sz="2000" dirty="0"/>
          </a:p>
          <a:p>
            <a:pPr marL="0" indent="0">
              <a:buNone/>
            </a:pPr>
            <a:r>
              <a:rPr lang="es-MX" sz="2000"/>
              <a:t>RESULTADOS FINALES</a:t>
            </a:r>
            <a:endParaRPr lang="es-MX" sz="2000" dirty="0"/>
          </a:p>
          <a:p>
            <a:r>
              <a:rPr lang="es-MX" sz="2000" dirty="0"/>
              <a:t>Archivos generados: submission_final.csv (RF), submission_xgb.csv (</a:t>
            </a:r>
            <a:r>
              <a:rPr lang="es-MX" sz="2000" dirty="0" err="1"/>
              <a:t>XGBoost</a:t>
            </a:r>
            <a:r>
              <a:rPr lang="es-MX" sz="2000" dirty="0"/>
              <a:t>), submission_stack.csv (ensemble).</a:t>
            </a:r>
          </a:p>
          <a:p>
            <a:r>
              <a:rPr lang="es-MX" sz="2000" dirty="0" err="1"/>
              <a:t>Stacking</a:t>
            </a:r>
            <a:r>
              <a:rPr lang="es-MX" sz="2000" dirty="0"/>
              <a:t> mejora el RMSE combinando fortalezas de cada modelo.</a:t>
            </a:r>
          </a:p>
        </p:txBody>
      </p:sp>
    </p:spTree>
    <p:extLst>
      <p:ext uri="{BB962C8B-B14F-4D97-AF65-F5344CB8AC3E}">
        <p14:creationId xmlns:p14="http://schemas.microsoft.com/office/powerpoint/2010/main" val="3174081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28ADA-8BB2-69E3-A3FC-9077998E1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A42457EC-9BCA-C013-0D3A-0A8A05F5F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659007" cy="640080"/>
          </a:xfrm>
        </p:spPr>
        <p:txBody>
          <a:bodyPr rtlCol="0">
            <a:noAutofit/>
          </a:bodyPr>
          <a:lstStyle/>
          <a:p>
            <a:pPr rtl="0"/>
            <a:r>
              <a:rPr lang="es-ES" dirty="0">
                <a:latin typeface="Segoe UI Light" panose="020B0502040204020203" pitchFamily="34" charset="0"/>
                <a:cs typeface="Segoe UI Light" panose="020B0502040204020203" pitchFamily="34" charset="0"/>
              </a:rPr>
              <a:t>IMAGEN </a:t>
            </a:r>
            <a:r>
              <a:rPr lang="es-ES">
                <a:latin typeface="Segoe UI Light" panose="020B0502040204020203" pitchFamily="34" charset="0"/>
                <a:cs typeface="Segoe UI Light" panose="020B0502040204020203" pitchFamily="34" charset="0"/>
              </a:rPr>
              <a:t>DE COMPETENCIA (JAB PUESTO 32</a:t>
            </a:r>
            <a:endParaRPr lang="es-E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8B25087-ABCA-3073-AE69-8D14C938D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51" y="1311573"/>
            <a:ext cx="9863528" cy="554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937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34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{AE2BFC9D-AC41-4B07-A42A-269458DD1091}TF2989475c-5427-4edb-9ec1-00f4ce72165b96abbc51_win32-b113e2ec0ef9</Template>
  <TotalTime>18</TotalTime>
  <Words>294</Words>
  <Application>Microsoft Office PowerPoint</Application>
  <PresentationFormat>Panorámica</PresentationFormat>
  <Paragraphs>61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Segoe UI Light</vt:lpstr>
      <vt:lpstr>Personalizado</vt:lpstr>
      <vt:lpstr>PROYECTO FINAL ECONOMETRIA EN R</vt:lpstr>
      <vt:lpstr>OBJETIVO Y HERRAMIENTAS</vt:lpstr>
      <vt:lpstr>PREPARACIÓN</vt:lpstr>
      <vt:lpstr>LIMPIEZA DE COLUMNAS Y MODELOS BASE</vt:lpstr>
      <vt:lpstr>XGBOOST MANUAL Y MEJORAR RMSE</vt:lpstr>
      <vt:lpstr>STACKING MANUAL Y RESULTADOS FINALES </vt:lpstr>
      <vt:lpstr>IMAGEN DE COMPETENCIA (JAB PUESTO 32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Barillas</dc:creator>
  <cp:keywords/>
  <cp:lastModifiedBy>Alex Barillas</cp:lastModifiedBy>
  <cp:revision>1</cp:revision>
  <dcterms:created xsi:type="dcterms:W3CDTF">2026-07-06T05:28:21Z</dcterms:created>
  <dcterms:modified xsi:type="dcterms:W3CDTF">2026-07-06T05:53:17Z</dcterms:modified>
  <cp:version/>
</cp:coreProperties>
</file>